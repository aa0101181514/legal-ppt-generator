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920240"/>
            <a:ext cx="11094415" cy="1371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標楷體"/>
              </a:rPr>
              <a:t>逃漏稅答辯簡報 (範例)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71900"/>
            <a:ext cx="11094415" cy="2400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標楷體"/>
              </a:rPr>
              <a:t>案號：高雄地院 115 年度金重訴字第 1 號</a:t>
            </a:r>
          </a:p>
          <a:p>
            <a:pPr algn="ctr"/>
            <a:r>
              <a:rPr sz="2000" b="0">
                <a:solidFill>
                  <a:srgbClr val="FFFFFF"/>
                </a:solidFill>
                <a:latin typeface="標楷體"/>
              </a:rPr>
              <a:t>被告：謝 OO、謝 XX</a:t>
            </a:r>
          </a:p>
          <a:p>
            <a:pPr algn="ctr"/>
            <a:r>
              <a:rPr sz="2000" b="0">
                <a:solidFill>
                  <a:srgbClr val="FFFFFF"/>
                </a:solidFill>
                <a:latin typeface="標楷體"/>
              </a:rPr>
              <a:t>起訴罪名：稅捐稽徵法第 41 條</a:t>
            </a:r>
          </a:p>
          <a:p>
            <a:pPr algn="ctr"/>
            <a:r>
              <a:rPr sz="2000" b="0">
                <a:solidFill>
                  <a:srgbClr val="FFFFFF"/>
                </a:solidFill>
                <a:latin typeface="標楷體"/>
              </a:rPr>
              <a:t>辯護人：OO 法律事務所</a:t>
            </a:r>
          </a:p>
          <a:p>
            <a:pPr algn="ctr"/>
            <a:r>
              <a:rPr sz="2000" b="0">
                <a:solidFill>
                  <a:srgbClr val="FFFFFF"/>
                </a:solidFill>
                <a:latin typeface="標楷體"/>
              </a:rPr>
              <a:t>報告日期：2026-04-17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標楷體"/>
              </a:rPr>
              <a:t>目次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4800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壹、犯後態度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參、重複課稅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伍、核課期間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400300"/>
            <a:ext cx="11094415" cy="2057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標楷體"/>
              </a:rPr>
              <a:t>壹、犯後態度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A6A9A"/>
                </a:solidFill>
                <a:latin typeface="標楷體"/>
              </a:rPr>
              <a:t>壹、犯後態度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標楷體"/>
              </a:rPr>
              <a:t>補繳稅額與配合調查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554480"/>
            <a:ext cx="11094415" cy="0"/>
          </a:xfrm>
          <a:prstGeom prst="line">
            <a:avLst/>
          </a:prstGeom>
          <a:ln>
            <a:solidFill>
              <a:srgbClr val="C0C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73736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08000"/>
                </a:solidFill>
                <a:latin typeface="標楷體"/>
              </a:rPr>
              <a:t>● 核心主張：</a:t>
            </a:r>
            <a:r>
              <a:rPr sz="1800" b="0">
                <a:solidFill>
                  <a:srgbClr val="333333"/>
                </a:solidFill>
                <a:latin typeface="標楷體"/>
              </a:rPr>
              <a:t>被告犯後態度良好，已補繳稅款並配合調查。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・被告於偵查中即補繳稅款 1.35 億元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・出具行政陳述書（詳卷）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・帳冊金流紀錄無保留提供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A9A"/>
                </a:solidFill>
                <a:latin typeface="標楷體"/>
              </a:rPr>
              <a:t>卷證出處：115 金重訴 1 號卷第 187 頁（即起訴書第 175 頁）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400300"/>
            <a:ext cx="11094415" cy="2057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標楷體"/>
              </a:rPr>
              <a:t>參、重複課稅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A6A9A"/>
                </a:solidFill>
                <a:latin typeface="標楷體"/>
              </a:rPr>
              <a:t>參、重複課稅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標楷體"/>
              </a:rPr>
              <a:t>國稅局計算公式內含重複課稅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554480"/>
            <a:ext cx="11094415" cy="0"/>
          </a:xfrm>
          <a:prstGeom prst="line">
            <a:avLst/>
          </a:prstGeom>
          <a:ln>
            <a:solidFill>
              <a:srgbClr val="C0C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73736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08000"/>
                </a:solidFill>
                <a:latin typeface="標楷體"/>
              </a:rPr>
              <a:t>● 核心主張：</a:t>
            </a:r>
            <a:r>
              <a:rPr sz="1800" b="0">
                <a:solidFill>
                  <a:srgbClr val="333333"/>
                </a:solidFill>
                <a:latin typeface="標楷體"/>
              </a:rPr>
              <a:t>同一自費收入同時認列薪資與執業所得，違反重複課稅禁止。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・附檔 A：醫師短漏薪資（含全部看診報酬）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・附檔 C：推計執業所得（以同一自費收入）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・兩者相加構成同一經濟活動雙重計入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4415" cy="1463040"/>
          </a:xfrm>
          <a:prstGeom prst="rect">
            <a:avLst/>
          </a:prstGeom>
          <a:solidFill>
            <a:srgbClr val="F5F2E8"/>
          </a:solidFill>
          <a:ln>
            <a:noFill/>
          </a:ln>
        </p:spPr>
        <p:txBody>
          <a:bodyPr wrap="square" anchor="t" lIns="182880" rIns="182880" tIns="91440" bIns="91440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標楷體"/>
              </a:rPr>
              <a:t>最高行政法院 107 年度判字第 369 號判決（綜合所得稅）</a:t>
            </a:r>
            <a:r>
              <a:rPr sz="1000" b="0">
                <a:solidFill>
                  <a:srgbClr val="1F3A68"/>
                </a:solidFill>
                <a:latin typeface="標楷體"/>
              </a:rPr>
              <a:t>  ✓ 已驗證</a:t>
            </a:r>
          </a:p>
          <a:p>
            <a:pPr algn="l"/>
            <a:r>
              <a:rPr sz="1400" b="0">
                <a:solidFill>
                  <a:srgbClr val="503A1E"/>
                </a:solidFill>
                <a:latin typeface="標楷體"/>
              </a:rPr>
              <a:t>「課稅之構成要件事實，多發生於納稅義務人所得支配之範圍，稅捐稽徵機關掌握困難，為貫徹公平合法課稅之目的，因而課納稅義務人申報協力義務……」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A9A"/>
                </a:solidFill>
                <a:latin typeface="標楷體"/>
              </a:rPr>
              <a:t>卷證出處：115 金重訴 1 號卷第 80 頁（即起訴書第 68 頁）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400300"/>
            <a:ext cx="11094415" cy="2057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標楷體"/>
              </a:rPr>
              <a:t>伍、核課期間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A6A9A"/>
                </a:solidFill>
                <a:latin typeface="標楷體"/>
              </a:rPr>
              <a:t>伍、核課期間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標楷體"/>
              </a:rPr>
              <a:t>原處分已逾 5 年核課期間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554480"/>
            <a:ext cx="11094415" cy="0"/>
          </a:xfrm>
          <a:prstGeom prst="line">
            <a:avLst/>
          </a:prstGeom>
          <a:ln>
            <a:solidFill>
              <a:srgbClr val="C0C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73736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08000"/>
                </a:solidFill>
                <a:latin typeface="標楷體"/>
              </a:rPr>
              <a:t>● 核心主張：</a:t>
            </a:r>
            <a:r>
              <a:rPr sz="1800" b="0">
                <a:solidFill>
                  <a:srgbClr val="333333"/>
                </a:solidFill>
                <a:latin typeface="標楷體"/>
              </a:rPr>
              <a:t>舉證未達「幾近於真實之高度蓋然性」不得適用 7 年核課期間。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・109 年度扣繳申報期限：110 年 1 月底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・5 年核課期間屆滿於 115 年 1 月底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・原處分發文日 115 年 2 月 9 日，已逾期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4415" cy="1463040"/>
          </a:xfrm>
          <a:prstGeom prst="rect">
            <a:avLst/>
          </a:prstGeom>
          <a:solidFill>
            <a:srgbClr val="F5F2E8"/>
          </a:solidFill>
          <a:ln>
            <a:noFill/>
          </a:ln>
        </p:spPr>
        <p:txBody>
          <a:bodyPr wrap="square" anchor="t" lIns="182880" rIns="182880" tIns="91440" bIns="91440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標楷體"/>
              </a:rPr>
              <a:t>最高行政法院 109 年度上字第 993 號判決（營業稅）</a:t>
            </a:r>
            <a:r>
              <a:rPr sz="1000" b="0">
                <a:solidFill>
                  <a:srgbClr val="1F3A68"/>
                </a:solidFill>
                <a:latin typeface="標楷體"/>
              </a:rPr>
              <a:t>  ✓ 已驗證</a:t>
            </a:r>
          </a:p>
          <a:p>
            <a:pPr algn="l"/>
            <a:r>
              <a:rPr sz="1400" b="0">
                <a:solidFill>
                  <a:srgbClr val="503A1E"/>
                </a:solidFill>
                <a:latin typeface="標楷體"/>
              </a:rPr>
              <a:t>「稅捐稽徵機關就納稅義務人逃漏稅捐之要件事實負舉證責任，其證明程度須達「幾近於真實之高度蓋然性」……」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標楷體"/>
              </a:rPr>
              <a:t>結論與聲明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1. 被告無罪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2. 退一步言，若認有罪，請審酌犯後態度從輕量刑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標楷體"/>
              </a:rPr>
              <a:t>3. 請求調查：OO 事項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標楷體"/>
              </a:rPr>
              <a:t>附錄：本簡報引用判決清單（均經 dr-lawbot 驗證）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94415" cy="5029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標楷體"/>
              </a:rPr>
              <a:t>1. 最高行政法院 107 年度判字第 369 號判決（綜合所得稅）
    https://api.dr-lawbot.com/api/search?q=107+判字+369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標楷體"/>
              </a:rPr>
              <a:t>2. 最高行政法院 109 年度上字第 993 號判決（營業稅）
    https://api.dr-lawbot.com/api/search?q=109+上字+993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