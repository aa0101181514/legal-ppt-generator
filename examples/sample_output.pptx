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1A3C6E"/>
                </a:solidFill>
                <a:latin typeface="Times New Roman"/>
                <a:ea typeface="標楷體"/>
              </a:rPr>
              <a:t>臺灣OO地方法院</a:t>
            </a:r>
            <a:r>
              <a:rPr sz="3600" b="1">
                <a:solidFill>
                  <a:srgbClr val="1A3C6E"/>
                </a:solidFill>
                <a:latin typeface="Times New Roman"/>
                <a:ea typeface="標楷體"/>
              </a:rPr>
              <a:t> OOO 年度金重訴字第 OO 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Times New Roman"/>
                <a:ea typeface="標楷體"/>
              </a:rPr>
              <a:t>被告 A、B、C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33333"/>
                </a:solidFill>
                <a:latin typeface="Times New Roman"/>
                <a:ea typeface="標楷體"/>
              </a:rPr>
              <a:t>逃漏稅捐罪部分之答辯方向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572000"/>
            <a:ext cx="4572000" cy="1828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91440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Times New Roman"/>
                <a:ea typeface="標楷體"/>
              </a:rPr>
              <a:t>中華民國 OOO 年 O 月 O 日</a:t>
            </a:r>
          </a:p>
          <a:p>
            <a:pPr algn="l"/>
            <a:r>
              <a:rPr sz="1800" b="0">
                <a:solidFill>
                  <a:srgbClr val="666666"/>
                </a:solidFill>
                <a:latin typeface="Times New Roman"/>
                <a:ea typeface="標楷體"/>
              </a:rPr>
              <a:t>王 X 律師</a:t>
            </a:r>
          </a:p>
          <a:p>
            <a:pPr algn="l"/>
            <a:r>
              <a:rPr sz="1800" b="0">
                <a:solidFill>
                  <a:srgbClr val="666666"/>
                </a:solidFill>
                <a:latin typeface="Times New Roman"/>
                <a:ea typeface="標楷體"/>
              </a:rPr>
              <a:t>黃 X 律師</a:t>
            </a:r>
          </a:p>
          <a:p>
            <a:pPr algn="l"/>
            <a:r>
              <a:rPr sz="1800" b="0">
                <a:solidFill>
                  <a:srgbClr val="666666"/>
                </a:solidFill>
                <a:latin typeface="Times New Roman"/>
                <a:ea typeface="標楷體"/>
              </a:rPr>
              <a:t>蔡 X 律師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Times New Roman"/>
                <a:ea typeface="標楷體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3C6E"/>
                </a:solidFill>
                <a:latin typeface="Times New Roman"/>
                <a:ea typeface="標楷體"/>
              </a:rPr>
              <a:t>答辯架構總覽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壹、補報稅事實背景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貳、程序爭點 — 稅局計算表欠缺證據能力（刑訴§159）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參、重複課稅 — 檢方計算方式之錯誤且重複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肆、亞科公司所得分配方式被檢方擅自變更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伍、逃漏稅額計算來源不透明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陸、國稅局估算至少更正 3 次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柒、所得性質爭議 — 合夥關係為真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捌、卷內帳冊多有模糊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Times New Roman"/>
                <a:ea typeface="標楷體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3C6E"/>
                </a:solidFill>
                <a:latin typeface="Times New Roman"/>
                <a:ea typeface="標楷體"/>
              </a:rPr>
              <a:t>貳、程序爭點 — 稅局計算表欠缺證據能力（刑訴§159）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8B0000"/>
                </a:solidFill>
                <a:latin typeface="Times New Roman"/>
                <a:ea typeface="標楷體"/>
              </a:rPr>
              <a:t>核心主張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78992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•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起訴書所援引國稅局逃漏稅額估算表（附件五、六、七）及相關函文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•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均為檢察官於偵查中主動函詢國稅局所製作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•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屬刑訴§159 第 1 項「被告以外之人於審判外之書面陳述」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8B0000"/>
                </a:solidFill>
                <a:latin typeface="Times New Roman"/>
                <a:ea typeface="標楷體"/>
              </a:rPr>
              <a:t>關鍵事實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78992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•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國稅局 113.12.16 函（原件 ④）：國稅局自身稅務調查尚未開始，即已先應檢方要求製作推估表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•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→ 推估表（原件 ③）並非國稅局依職權調查的結果，而是「專為訴追而製作」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•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檢方至少 3 次發函指示國稅局修改計算方式（原件 ② ⑤ ⑥），表示稅額計算過程存有疑問須更正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Times New Roman"/>
                <a:ea typeface="標楷體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A3C6E"/>
                </a:solidFill>
                <a:latin typeface="Times New Roman"/>
                <a:ea typeface="標楷體"/>
              </a:rPr>
              <a:t>卷證原件 ① 113.8.16 — 國稅局復函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A3C6E"/>
                </a:solidFill>
                <a:latin typeface="Times New Roman"/>
                <a:ea typeface="標楷體"/>
              </a:rPr>
              <a:t>113偵27269卷5 p.253 — 財政部高雄國稅局 113.8.19 復函</a:t>
            </a:r>
          </a:p>
        </p:txBody>
      </p:sp>
      <p:pic>
        <p:nvPicPr>
          <p:cNvPr id="6" name="Picture 5" descr="113偵27269卷5_p253_551ced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88720"/>
            <a:ext cx="5897880" cy="4176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Times New Roman"/>
                <a:ea typeface="標楷體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3C6E"/>
                </a:solidFill>
                <a:latin typeface="Times New Roman"/>
                <a:ea typeface="標楷體"/>
              </a:rPr>
              <a:t>柒、所得性質爭議 — 合夥關係為真，不構成「詐術」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8B0000"/>
                </a:solidFill>
                <a:latin typeface="Times New Roman"/>
                <a:ea typeface="標楷體"/>
              </a:rPr>
              <a:t>核心主張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•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醫師與診所間為合夥關係，非僱傭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•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共負盈虧、自由排班、親自履行、不受指揮監督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8B0000"/>
                </a:solidFill>
                <a:latin typeface="Times New Roman"/>
                <a:ea typeface="標楷體"/>
              </a:rPr>
              <a:t>相關判決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•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最高行政法院 107 年度判字第 369 號判決：核課事實之舉證責任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•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最高行政法院 110 年度上字第 255 號判決：4 大從屬性判斷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Times New Roman"/>
                <a:ea typeface="標楷體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A3C6E"/>
                </a:solidFill>
                <a:latin typeface="Times New Roman"/>
                <a:ea typeface="標楷體"/>
              </a:rPr>
              <a:t>柒附件 — 卷 17 聘任契約第 3 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A3C6E"/>
                </a:solidFill>
                <a:latin typeface="Times New Roman"/>
                <a:ea typeface="標楷體"/>
              </a:rPr>
              <a:t>113偵27269卷17 p.9 — 醫師聘任契約「醫師自負稅金成本」條款</a:t>
            </a:r>
          </a:p>
        </p:txBody>
      </p:sp>
      <p:pic>
        <p:nvPicPr>
          <p:cNvPr id="6" name="Picture 5" descr="113偵27269卷17_p9_a422b1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88720"/>
            <a:ext cx="3751933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Times New Roman"/>
                <a:ea typeface="標楷體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3C6E"/>
                </a:solidFill>
                <a:latin typeface="Times New Roman"/>
                <a:ea typeface="標楷體"/>
              </a:rPr>
              <a:t>結論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97280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A3C6E"/>
                </a:solidFill>
                <a:latin typeface="Times New Roman"/>
                <a:ea typeface="標楷體"/>
              </a:rPr>
              <a:t>1.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被告均無罪</a:t>
            </a:r>
          </a:p>
          <a:p>
            <a:pPr algn="l"/>
            <a:r>
              <a:rPr sz="1700" b="1">
                <a:solidFill>
                  <a:srgbClr val="1A3C6E"/>
                </a:solidFill>
                <a:latin typeface="Times New Roman"/>
                <a:ea typeface="標楷體"/>
              </a:rPr>
              <a:t>2.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退一步言，若認有罪，請審酌犯後態度從輕量刑</a:t>
            </a:r>
          </a:p>
          <a:p>
            <a:pPr algn="l"/>
            <a:r>
              <a:rPr sz="1700" b="1">
                <a:solidFill>
                  <a:srgbClr val="1A3C6E"/>
                </a:solidFill>
                <a:latin typeface="Times New Roman"/>
                <a:ea typeface="標楷體"/>
              </a:rPr>
              <a:t>3. </a:t>
            </a:r>
            <a:r>
              <a:rPr sz="1700" b="0">
                <a:solidFill>
                  <a:srgbClr val="333333"/>
                </a:solidFill>
                <a:latin typeface="Times New Roman"/>
                <a:ea typeface="標楷體"/>
              </a:rPr>
              <a:t>請求調查：OO 函文原件、證人 OOO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Times New Roman"/>
                <a:ea typeface="標楷體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A3C6E"/>
                </a:solidFill>
                <a:latin typeface="Times New Roman"/>
                <a:ea typeface="標楷體"/>
              </a:rPr>
              <a:t>附錄 — 本簡報引用判決（均經 dr-lawbot 驗證）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97280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Times New Roman"/>
                <a:ea typeface="標楷體"/>
              </a:rPr>
              <a:t>1. 最高行政法院 107 年度判字第 369 號判決（綜合所得稅）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Times New Roman"/>
                <a:ea typeface="標楷體"/>
              </a:rPr>
              <a:t>    https://api.dr-lawbot.com/api/search?q=107+判字+369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Times New Roman"/>
                <a:ea typeface="標楷體"/>
              </a:rPr>
              <a:t>2. 最高行政法院 110 年度上字第 255 號判決（勞動基準法）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Times New Roman"/>
                <a:ea typeface="標楷體"/>
              </a:rPr>
              <a:t>    https://api.dr-lawbot.com/api/search?q=110+上字+255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Times New Roman"/>
                <a:ea typeface="標楷體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